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AN Headline" charset="1" panose="00000000000000000000"/>
      <p:regular r:id="rId20"/>
    </p:embeddedFont>
    <p:embeddedFont>
      <p:font typeface="Montserrat Bold" charset="1" panose="00000800000000000000"/>
      <p:regular r:id="rId21"/>
    </p:embeddedFont>
    <p:embeddedFont>
      <p:font typeface="Montserrat Extra-Light" charset="1" panose="00000300000000000000"/>
      <p:regular r:id="rId22"/>
    </p:embeddedFont>
    <p:embeddedFont>
      <p:font typeface="Montserrat" charset="1" panose="00000500000000000000"/>
      <p:regular r:id="rId23"/>
    </p:embeddedFont>
    <p:embeddedFont>
      <p:font typeface="Montserrat Ultra-Bold" charset="1" panose="00000900000000000000"/>
      <p:regular r:id="rId29"/>
    </p:embeddedFont>
    <p:embeddedFont>
      <p:font typeface="Montserrat Semi-Bold" charset="1" panose="000007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AJCAR 25 es una aplicación web fullstack que digitaliza la gestión completa de un taller de chapa y pintura.</a:t>
            </a:r>
          </a:p>
          <a:p>
            <a:r>
              <a:rPr lang="en-US"/>
              <a:t>Desde que un cliente solicita un presupuesto hasta que recibe su factura en PDF, todo ocurre dentro de la misma plataforma.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sector del automóvil sigue gestionando talleres con métodos anticuados. Vi la oportunidad de digitalizar ese proceso con una solución moderna y accesible. Los softwares existentes para talleres son caros, complejos y poco intuitivos. Decidí crear una alternativa sencilla, completa y gratuita.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AJCAR 25 es una aplicación web fullstack que digitaliza la gestión completa de un taller de chapa y pintura.</a:t>
            </a:r>
          </a:p>
          <a:p>
            <a:r>
              <a:rPr lang="en-US"/>
              <a:t>Desde que un cliente solicita un presupuesto hasta que recibe su factura en PDF, todo ocurre dentro de la misma plataforma.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AJCAR 25 es una aplicación web fullstack que digitaliza la gestión completa de un taller de chapa y pintura.</a:t>
            </a:r>
          </a:p>
          <a:p>
            <a:r>
              <a:rPr lang="en-US"/>
              <a:t>Desde que un cliente solicita un presupuesto hasta que recibe su factura en PDF, todo ocurre dentro de la misma plataforma.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usuariotfghector@gmail.com</a:t>
            </a:r>
          </a:p>
          <a:p>
            <a:r>
              <a:rPr lang="en-US"/>
              <a:t>123456Aa&amp;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79165" y="8737260"/>
            <a:ext cx="11933240" cy="521040"/>
            <a:chOff x="0" y="0"/>
            <a:chExt cx="3572814" cy="155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2814" cy="155999"/>
            </a:xfrm>
            <a:custGeom>
              <a:avLst/>
              <a:gdLst/>
              <a:ahLst/>
              <a:cxnLst/>
              <a:rect r="r" b="b" t="t" l="l"/>
              <a:pathLst>
                <a:path h="155999" w="3572814">
                  <a:moveTo>
                    <a:pt x="1786407" y="0"/>
                  </a:moveTo>
                  <a:cubicBezTo>
                    <a:pt x="799802" y="0"/>
                    <a:pt x="0" y="34922"/>
                    <a:pt x="0" y="78000"/>
                  </a:cubicBezTo>
                  <a:cubicBezTo>
                    <a:pt x="0" y="121078"/>
                    <a:pt x="799802" y="155999"/>
                    <a:pt x="1786407" y="155999"/>
                  </a:cubicBezTo>
                  <a:cubicBezTo>
                    <a:pt x="2773013" y="155999"/>
                    <a:pt x="3572814" y="121078"/>
                    <a:pt x="3572814" y="78000"/>
                  </a:cubicBezTo>
                  <a:cubicBezTo>
                    <a:pt x="3572814" y="34922"/>
                    <a:pt x="2773013" y="0"/>
                    <a:pt x="1786407" y="0"/>
                  </a:cubicBezTo>
                  <a:close/>
                </a:path>
              </a:pathLst>
            </a:custGeom>
            <a:solidFill>
              <a:srgbClr val="183263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334951" y="-23475"/>
              <a:ext cx="2902912" cy="164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994140" y="1453001"/>
            <a:ext cx="9397013" cy="7544778"/>
            <a:chOff x="0" y="0"/>
            <a:chExt cx="7467600" cy="5995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-6175" t="0" r="-6175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173699" y="4913785"/>
            <a:ext cx="2064008" cy="4083995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2415" t="0" r="-2415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8700" y="4455637"/>
            <a:ext cx="8126721" cy="146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42"/>
              </a:lnSpc>
            </a:pPr>
            <a:r>
              <a:rPr lang="en-US" sz="9697" spc="-5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AJCAR25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5966169"/>
            <a:ext cx="8567927" cy="899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6"/>
              </a:lnSpc>
            </a:pPr>
            <a:r>
              <a:rPr lang="en-US" b="true" sz="1919" spc="3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ALUMNO: HÉCTOR SANZ RIESCO</a:t>
            </a:r>
          </a:p>
          <a:p>
            <a:pPr algn="l">
              <a:lnSpc>
                <a:spcPts val="1746"/>
              </a:lnSpc>
            </a:pPr>
            <a:r>
              <a:rPr lang="en-US" b="true" sz="1919" spc="3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TUTOR INDIVIDUAL/COLECTIVO: JOSE ANTONIO CARRASCAL ALDERETE</a:t>
            </a:r>
          </a:p>
          <a:p>
            <a:pPr algn="l">
              <a:lnSpc>
                <a:spcPts val="1746"/>
              </a:lnSpc>
            </a:pPr>
            <a:r>
              <a:rPr lang="en-US" b="true" sz="1919" spc="3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FECHA DE PRESENTACIÓN: 29/05/2026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3491700"/>
            <a:ext cx="8864398" cy="705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1"/>
              </a:lnSpc>
            </a:pPr>
            <a:r>
              <a:rPr lang="en-US" sz="5038" spc="1299">
                <a:solidFill>
                  <a:srgbClr val="000000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PROPUESTA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6499" y="0"/>
            <a:ext cx="4761720" cy="10287000"/>
            <a:chOff x="0" y="0"/>
            <a:chExt cx="125411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11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54116">
                  <a:moveTo>
                    <a:pt x="0" y="0"/>
                  </a:moveTo>
                  <a:lnTo>
                    <a:pt x="1254116" y="0"/>
                  </a:lnTo>
                  <a:lnTo>
                    <a:pt x="125411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1254116" cy="2633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92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935076" y="1700323"/>
            <a:ext cx="3480291" cy="6886353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2008" t="0" r="-200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755476" y="2258312"/>
            <a:ext cx="8503824" cy="549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1"/>
              </a:lnSpc>
            </a:pPr>
            <a:r>
              <a:rPr lang="en-US" sz="3631" spc="312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Introducción</a:t>
            </a:r>
          </a:p>
          <a:p>
            <a:pPr algn="l">
              <a:lnSpc>
                <a:spcPts val="7371"/>
              </a:lnSpc>
            </a:pPr>
            <a:r>
              <a:rPr lang="en-US" sz="3631" spc="312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Motivación</a:t>
            </a:r>
          </a:p>
          <a:p>
            <a:pPr algn="l">
              <a:lnSpc>
                <a:spcPts val="7371"/>
              </a:lnSpc>
            </a:pPr>
            <a:r>
              <a:rPr lang="en-US" sz="3631" spc="312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Lenguajes de programación</a:t>
            </a:r>
          </a:p>
          <a:p>
            <a:pPr algn="l">
              <a:lnSpc>
                <a:spcPts val="7371"/>
              </a:lnSpc>
            </a:pPr>
            <a:r>
              <a:rPr lang="en-US" sz="3631" spc="312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Contenidos del proyecto</a:t>
            </a:r>
          </a:p>
          <a:p>
            <a:pPr algn="l">
              <a:lnSpc>
                <a:spcPts val="7371"/>
              </a:lnSpc>
            </a:pPr>
            <a:r>
              <a:rPr lang="en-US" sz="3631" spc="312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Posibles ampliaciones</a:t>
            </a:r>
          </a:p>
          <a:p>
            <a:pPr algn="l">
              <a:lnSpc>
                <a:spcPts val="7371"/>
              </a:lnSpc>
            </a:pPr>
            <a:r>
              <a:rPr lang="en-US" sz="3631" spc="312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Explotación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15197" y="2163062"/>
            <a:ext cx="1631983" cy="553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83"/>
              </a:lnSpc>
            </a:pPr>
            <a:r>
              <a:rPr lang="en-US" sz="2993" spc="1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  <a:p>
            <a:pPr algn="r">
              <a:lnSpc>
                <a:spcPts val="7483"/>
              </a:lnSpc>
            </a:pPr>
            <a:r>
              <a:rPr lang="en-US" sz="2993" spc="1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  <a:p>
            <a:pPr algn="r">
              <a:lnSpc>
                <a:spcPts val="7483"/>
              </a:lnSpc>
            </a:pPr>
            <a:r>
              <a:rPr lang="en-US" sz="2993" spc="1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  <a:p>
            <a:pPr algn="r">
              <a:lnSpc>
                <a:spcPts val="7483"/>
              </a:lnSpc>
            </a:pPr>
            <a:r>
              <a:rPr lang="en-US" sz="2993" spc="1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  <a:p>
            <a:pPr algn="r">
              <a:lnSpc>
                <a:spcPts val="7483"/>
              </a:lnSpc>
            </a:pPr>
            <a:r>
              <a:rPr lang="en-US" sz="2993" spc="1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  <a:p>
            <a:pPr algn="r">
              <a:lnSpc>
                <a:spcPts val="7483"/>
              </a:lnSpc>
            </a:pPr>
            <a:r>
              <a:rPr lang="en-US" sz="2993" spc="1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05509" y="4291274"/>
            <a:ext cx="11076982" cy="157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2"/>
              </a:lnSpc>
            </a:pPr>
            <a:r>
              <a:rPr lang="en-US" sz="9460" spc="-5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01. Introducción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84418" y="5725299"/>
            <a:ext cx="5719164" cy="92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3999" spc="34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AJCAR25?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873326" y="2909915"/>
            <a:ext cx="3208407" cy="6348385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2404" t="0" r="-2404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858083" y="4656179"/>
            <a:ext cx="4394362" cy="3899996"/>
          </a:xfrm>
          <a:custGeom>
            <a:avLst/>
            <a:gdLst/>
            <a:ahLst/>
            <a:cxnLst/>
            <a:rect r="r" b="b" t="t" l="l"/>
            <a:pathLst>
              <a:path h="3899996" w="4394362">
                <a:moveTo>
                  <a:pt x="0" y="0"/>
                </a:moveTo>
                <a:lnTo>
                  <a:pt x="4394362" y="0"/>
                </a:lnTo>
                <a:lnTo>
                  <a:pt x="4394362" y="3899996"/>
                </a:lnTo>
                <a:lnTo>
                  <a:pt x="0" y="38999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909711" y="3194094"/>
            <a:ext cx="2710206" cy="750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MAYORÍA DE TALLERES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73351" y="2343598"/>
            <a:ext cx="2710206" cy="36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ESTE TALLER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85800"/>
            <a:ext cx="16230600" cy="101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02. Motivación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73199" y="3482282"/>
            <a:ext cx="11941603" cy="3191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72"/>
              </a:lnSpc>
            </a:pPr>
            <a:r>
              <a:rPr lang="en-US" sz="9460" spc="-5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03. Lenguajes de programación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04147" y="3319476"/>
            <a:ext cx="2593315" cy="2593315"/>
          </a:xfrm>
          <a:custGeom>
            <a:avLst/>
            <a:gdLst/>
            <a:ahLst/>
            <a:cxnLst/>
            <a:rect r="r" b="b" t="t" l="l"/>
            <a:pathLst>
              <a:path h="2593315" w="2593315">
                <a:moveTo>
                  <a:pt x="0" y="0"/>
                </a:moveTo>
                <a:lnTo>
                  <a:pt x="2593316" y="0"/>
                </a:lnTo>
                <a:lnTo>
                  <a:pt x="2593316" y="2593315"/>
                </a:lnTo>
                <a:lnTo>
                  <a:pt x="0" y="2593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63316" y="3380861"/>
            <a:ext cx="3840941" cy="2347775"/>
          </a:xfrm>
          <a:custGeom>
            <a:avLst/>
            <a:gdLst/>
            <a:ahLst/>
            <a:cxnLst/>
            <a:rect r="r" b="b" t="t" l="l"/>
            <a:pathLst>
              <a:path h="2347775" w="3840941">
                <a:moveTo>
                  <a:pt x="0" y="0"/>
                </a:moveTo>
                <a:lnTo>
                  <a:pt x="3840941" y="0"/>
                </a:lnTo>
                <a:lnTo>
                  <a:pt x="3840941" y="2347775"/>
                </a:lnTo>
                <a:lnTo>
                  <a:pt x="0" y="2347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48698" y="895710"/>
            <a:ext cx="4390605" cy="126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64"/>
              </a:lnSpc>
            </a:pPr>
            <a:r>
              <a:rPr lang="en-US" sz="5499" spc="472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FrontEnd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95128" y="6402373"/>
            <a:ext cx="3011354" cy="56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4"/>
              </a:lnSpc>
            </a:pPr>
            <a:r>
              <a:rPr lang="en-US" sz="2499" spc="214" b="tru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TypeScript/tsx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61091" y="6340988"/>
            <a:ext cx="2706194" cy="56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74"/>
              </a:lnSpc>
              <a:spcBef>
                <a:spcPct val="0"/>
              </a:spcBef>
            </a:pPr>
            <a:r>
              <a:rPr lang="en-US" b="true" sz="2499" spc="214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CSS</a:t>
            </a:r>
            <a:r>
              <a:rPr lang="en-US" b="true" sz="2499" spc="214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Tailwind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40664" y="3562642"/>
            <a:ext cx="2593315" cy="2593315"/>
          </a:xfrm>
          <a:custGeom>
            <a:avLst/>
            <a:gdLst/>
            <a:ahLst/>
            <a:cxnLst/>
            <a:rect r="r" b="b" t="t" l="l"/>
            <a:pathLst>
              <a:path h="2593315" w="2593315">
                <a:moveTo>
                  <a:pt x="0" y="0"/>
                </a:moveTo>
                <a:lnTo>
                  <a:pt x="2593315" y="0"/>
                </a:lnTo>
                <a:lnTo>
                  <a:pt x="2593315" y="2593315"/>
                </a:lnTo>
                <a:lnTo>
                  <a:pt x="0" y="2593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86594" y="3076310"/>
            <a:ext cx="3565979" cy="3565979"/>
          </a:xfrm>
          <a:custGeom>
            <a:avLst/>
            <a:gdLst/>
            <a:ahLst/>
            <a:cxnLst/>
            <a:rect r="r" b="b" t="t" l="l"/>
            <a:pathLst>
              <a:path h="3565979" w="3565979">
                <a:moveTo>
                  <a:pt x="0" y="0"/>
                </a:moveTo>
                <a:lnTo>
                  <a:pt x="3565979" y="0"/>
                </a:lnTo>
                <a:lnTo>
                  <a:pt x="3565979" y="3565979"/>
                </a:lnTo>
                <a:lnTo>
                  <a:pt x="0" y="3565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38550" y="981525"/>
            <a:ext cx="4410900" cy="125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61"/>
              </a:lnSpc>
            </a:pPr>
            <a:r>
              <a:rPr lang="en-US" sz="5399" spc="464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BackEnd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15167" y="6645539"/>
            <a:ext cx="2833344" cy="56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74"/>
              </a:lnSpc>
              <a:spcBef>
                <a:spcPct val="0"/>
              </a:spcBef>
            </a:pPr>
            <a:r>
              <a:rPr lang="en-US" b="true" sz="2499" spc="214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PostgreSQL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31586" y="6645539"/>
            <a:ext cx="1282113" cy="56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74"/>
              </a:lnSpc>
              <a:spcBef>
                <a:spcPct val="0"/>
              </a:spcBef>
            </a:pPr>
            <a:r>
              <a:rPr lang="en-US" b="true" sz="2499" spc="214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JSON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848509" y="3562642"/>
            <a:ext cx="2593315" cy="2593315"/>
          </a:xfrm>
          <a:custGeom>
            <a:avLst/>
            <a:gdLst/>
            <a:ahLst/>
            <a:cxnLst/>
            <a:rect r="r" b="b" t="t" l="l"/>
            <a:pathLst>
              <a:path h="2593315" w="2593315">
                <a:moveTo>
                  <a:pt x="0" y="0"/>
                </a:moveTo>
                <a:lnTo>
                  <a:pt x="2593315" y="0"/>
                </a:lnTo>
                <a:lnTo>
                  <a:pt x="2593315" y="2593315"/>
                </a:lnTo>
                <a:lnTo>
                  <a:pt x="0" y="25933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39489" y="6645539"/>
            <a:ext cx="3011354" cy="56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4"/>
              </a:lnSpc>
            </a:pPr>
            <a:r>
              <a:rPr lang="en-US" sz="2499" spc="214" b="tru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TypeScript/tsx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17273" y="2686297"/>
            <a:ext cx="2511749" cy="2235456"/>
          </a:xfrm>
          <a:custGeom>
            <a:avLst/>
            <a:gdLst/>
            <a:ahLst/>
            <a:cxnLst/>
            <a:rect r="r" b="b" t="t" l="l"/>
            <a:pathLst>
              <a:path h="2235456" w="2511749">
                <a:moveTo>
                  <a:pt x="0" y="0"/>
                </a:moveTo>
                <a:lnTo>
                  <a:pt x="2511748" y="0"/>
                </a:lnTo>
                <a:lnTo>
                  <a:pt x="2511748" y="2235456"/>
                </a:lnTo>
                <a:lnTo>
                  <a:pt x="0" y="2235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09631" y="2686297"/>
            <a:ext cx="2416468" cy="2416468"/>
          </a:xfrm>
          <a:custGeom>
            <a:avLst/>
            <a:gdLst/>
            <a:ahLst/>
            <a:cxnLst/>
            <a:rect r="r" b="b" t="t" l="l"/>
            <a:pathLst>
              <a:path h="2416468" w="2416468">
                <a:moveTo>
                  <a:pt x="0" y="0"/>
                </a:moveTo>
                <a:lnTo>
                  <a:pt x="2416469" y="0"/>
                </a:lnTo>
                <a:lnTo>
                  <a:pt x="2416469" y="2416468"/>
                </a:lnTo>
                <a:lnTo>
                  <a:pt x="0" y="2416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02102" y="2686297"/>
            <a:ext cx="2619901" cy="2619901"/>
          </a:xfrm>
          <a:custGeom>
            <a:avLst/>
            <a:gdLst/>
            <a:ahLst/>
            <a:cxnLst/>
            <a:rect r="r" b="b" t="t" l="l"/>
            <a:pathLst>
              <a:path h="2619901" w="2619901">
                <a:moveTo>
                  <a:pt x="0" y="0"/>
                </a:moveTo>
                <a:lnTo>
                  <a:pt x="2619901" y="0"/>
                </a:lnTo>
                <a:lnTo>
                  <a:pt x="2619901" y="2619900"/>
                </a:lnTo>
                <a:lnTo>
                  <a:pt x="0" y="261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05404" y="2837442"/>
            <a:ext cx="2265323" cy="2265323"/>
          </a:xfrm>
          <a:custGeom>
            <a:avLst/>
            <a:gdLst/>
            <a:ahLst/>
            <a:cxnLst/>
            <a:rect r="r" b="b" t="t" l="l"/>
            <a:pathLst>
              <a:path h="2265323" w="2265323">
                <a:moveTo>
                  <a:pt x="0" y="0"/>
                </a:moveTo>
                <a:lnTo>
                  <a:pt x="2265323" y="0"/>
                </a:lnTo>
                <a:lnTo>
                  <a:pt x="2265323" y="2265323"/>
                </a:lnTo>
                <a:lnTo>
                  <a:pt x="0" y="22653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72567" y="6566890"/>
            <a:ext cx="3366548" cy="1683274"/>
          </a:xfrm>
          <a:custGeom>
            <a:avLst/>
            <a:gdLst/>
            <a:ahLst/>
            <a:cxnLst/>
            <a:rect r="r" b="b" t="t" l="l"/>
            <a:pathLst>
              <a:path h="1683274" w="3366548">
                <a:moveTo>
                  <a:pt x="0" y="0"/>
                </a:moveTo>
                <a:lnTo>
                  <a:pt x="3366549" y="0"/>
                </a:lnTo>
                <a:lnTo>
                  <a:pt x="3366549" y="1683274"/>
                </a:lnTo>
                <a:lnTo>
                  <a:pt x="0" y="16832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09856" y="600075"/>
            <a:ext cx="5668287" cy="125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61"/>
              </a:lnSpc>
            </a:pPr>
            <a:r>
              <a:rPr lang="en-US" sz="5399" spc="464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Tecnologias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04999" y="5447340"/>
            <a:ext cx="1136297" cy="52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2307" spc="19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96967" y="5447340"/>
            <a:ext cx="1230172" cy="52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3"/>
              </a:lnSpc>
              <a:spcBef>
                <a:spcPct val="0"/>
              </a:spcBef>
            </a:pPr>
            <a:r>
              <a:rPr lang="en-US" b="true" sz="2307" spc="198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Vercel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16855" y="5447340"/>
            <a:ext cx="1042422" cy="52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3"/>
              </a:lnSpc>
              <a:spcBef>
                <a:spcPct val="0"/>
              </a:spcBef>
            </a:pPr>
            <a:r>
              <a:rPr lang="en-US" b="true" sz="2307" spc="19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5842" y="5447340"/>
            <a:ext cx="1324048" cy="52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3"/>
              </a:lnSpc>
              <a:spcBef>
                <a:spcPct val="0"/>
              </a:spcBef>
            </a:pPr>
            <a:r>
              <a:rPr lang="en-US" b="true" sz="2307" spc="198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Next.js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06185" y="8693148"/>
            <a:ext cx="2299314" cy="56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74"/>
              </a:lnSpc>
              <a:spcBef>
                <a:spcPct val="0"/>
              </a:spcBef>
            </a:pPr>
            <a:r>
              <a:rPr lang="en-US" b="true" sz="2499" spc="214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Nodemailer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16733" y="7094202"/>
            <a:ext cx="2800122" cy="919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62"/>
              </a:lnSpc>
              <a:spcBef>
                <a:spcPct val="0"/>
              </a:spcBef>
            </a:pPr>
            <a:r>
              <a:rPr lang="en-US" b="true" sz="4020" spc="345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Bcryptjs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73199" y="3482282"/>
            <a:ext cx="11941603" cy="3191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72"/>
              </a:lnSpc>
            </a:pPr>
            <a:r>
              <a:rPr lang="en-US" sz="9460" spc="-5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04. Contenidos del proyecto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83747"/>
            <a:ext cx="11378934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spc="-2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Funcionalidades básicas y usuarios: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5924" y="3085449"/>
            <a:ext cx="2225697" cy="287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3"/>
              </a:lnSpc>
            </a:pPr>
            <a:r>
              <a:rPr lang="en-US" sz="21503" spc="-129">
                <a:solidFill>
                  <a:srgbClr val="DBD5D2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75165" y="3085449"/>
            <a:ext cx="2686059" cy="287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3"/>
              </a:lnSpc>
            </a:pPr>
            <a:r>
              <a:rPr lang="en-US" sz="21503" spc="-129">
                <a:solidFill>
                  <a:srgbClr val="DBD5D2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30213" y="3085449"/>
            <a:ext cx="2469118" cy="287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3"/>
              </a:lnSpc>
            </a:pPr>
            <a:r>
              <a:rPr lang="en-US" sz="21503" spc="-129">
                <a:solidFill>
                  <a:srgbClr val="DBD5D2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5924" y="4438097"/>
            <a:ext cx="3827469" cy="52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spc="-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Cliente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75165" y="4438097"/>
            <a:ext cx="3827469" cy="52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spc="-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Empleado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85596" y="4438097"/>
            <a:ext cx="3827469" cy="52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spc="-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Jefe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0185" y="5733239"/>
            <a:ext cx="4451394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Solicitar presupuestos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Consultar el estado de sus vehículos en tiempo real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Descargar facturas en PDF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Ver mantenimientos cancelados con motivo 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Modificar datos personales y contraseña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16929" y="5733239"/>
            <a:ext cx="4857396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Gestionar presupuestos pendientes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Ingresar vehículos aceptados al taller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Generar facturas con actualización automática de stock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Crear fichas de clientes y consultar almacén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07634" y="5733239"/>
            <a:ext cx="4451394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Dashboard con ingresos totales y del mes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 empleados y clientes 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Stock con entrada masiva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Facturas filtradas por matricula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mensuales y ranking de facturación por empleado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92711" y="1028700"/>
            <a:ext cx="10702577" cy="10702577"/>
          </a:xfrm>
          <a:custGeom>
            <a:avLst/>
            <a:gdLst/>
            <a:ahLst/>
            <a:cxnLst/>
            <a:rect r="r" b="b" t="t" l="l"/>
            <a:pathLst>
              <a:path h="10702577" w="10702577">
                <a:moveTo>
                  <a:pt x="0" y="0"/>
                </a:moveTo>
                <a:lnTo>
                  <a:pt x="10702578" y="0"/>
                </a:lnTo>
                <a:lnTo>
                  <a:pt x="10702578" y="10702577"/>
                </a:lnTo>
                <a:lnTo>
                  <a:pt x="0" y="10702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795" y="3516922"/>
            <a:ext cx="7235781" cy="2169816"/>
            <a:chOff x="0" y="0"/>
            <a:chExt cx="3001051" cy="8999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01051" cy="899934"/>
            </a:xfrm>
            <a:custGeom>
              <a:avLst/>
              <a:gdLst/>
              <a:ahLst/>
              <a:cxnLst/>
              <a:rect r="r" b="b" t="t" l="l"/>
              <a:pathLst>
                <a:path h="899934" w="3001051">
                  <a:moveTo>
                    <a:pt x="0" y="0"/>
                  </a:moveTo>
                  <a:lnTo>
                    <a:pt x="3001051" y="0"/>
                  </a:lnTo>
                  <a:lnTo>
                    <a:pt x="3001051" y="899934"/>
                  </a:lnTo>
                  <a:lnTo>
                    <a:pt x="0" y="89993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23519" y="5819462"/>
            <a:ext cx="7235781" cy="2169816"/>
            <a:chOff x="0" y="0"/>
            <a:chExt cx="3001051" cy="899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01051" cy="899934"/>
            </a:xfrm>
            <a:custGeom>
              <a:avLst/>
              <a:gdLst/>
              <a:ahLst/>
              <a:cxnLst/>
              <a:rect r="r" b="b" t="t" l="l"/>
              <a:pathLst>
                <a:path h="899934" w="3001051">
                  <a:moveTo>
                    <a:pt x="0" y="0"/>
                  </a:moveTo>
                  <a:lnTo>
                    <a:pt x="3001051" y="0"/>
                  </a:lnTo>
                  <a:lnTo>
                    <a:pt x="3001051" y="899934"/>
                  </a:lnTo>
                  <a:lnTo>
                    <a:pt x="0" y="89993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28795" y="5819462"/>
            <a:ext cx="7235781" cy="2169816"/>
            <a:chOff x="0" y="0"/>
            <a:chExt cx="3001051" cy="8999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01051" cy="899934"/>
            </a:xfrm>
            <a:custGeom>
              <a:avLst/>
              <a:gdLst/>
              <a:ahLst/>
              <a:cxnLst/>
              <a:rect r="r" b="b" t="t" l="l"/>
              <a:pathLst>
                <a:path h="899934" w="3001051">
                  <a:moveTo>
                    <a:pt x="0" y="0"/>
                  </a:moveTo>
                  <a:lnTo>
                    <a:pt x="3001051" y="0"/>
                  </a:lnTo>
                  <a:lnTo>
                    <a:pt x="3001051" y="899934"/>
                  </a:lnTo>
                  <a:lnTo>
                    <a:pt x="0" y="89993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023519" y="3516922"/>
            <a:ext cx="7235781" cy="2169816"/>
            <a:chOff x="0" y="0"/>
            <a:chExt cx="3001051" cy="8999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01051" cy="899934"/>
            </a:xfrm>
            <a:custGeom>
              <a:avLst/>
              <a:gdLst/>
              <a:ahLst/>
              <a:cxnLst/>
              <a:rect r="r" b="b" t="t" l="l"/>
              <a:pathLst>
                <a:path h="899934" w="3001051">
                  <a:moveTo>
                    <a:pt x="0" y="0"/>
                  </a:moveTo>
                  <a:lnTo>
                    <a:pt x="3001051" y="0"/>
                  </a:lnTo>
                  <a:lnTo>
                    <a:pt x="3001051" y="899934"/>
                  </a:lnTo>
                  <a:lnTo>
                    <a:pt x="0" y="89993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568642" y="4485898"/>
            <a:ext cx="499756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9"/>
              </a:lnSpc>
            </a:pPr>
            <a:r>
              <a:rPr lang="en-US" sz="2999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Firma digital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63366" y="6788438"/>
            <a:ext cx="499756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9"/>
              </a:lnSpc>
            </a:pPr>
            <a:r>
              <a:rPr lang="en-US" sz="2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 de valoraciones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68642" y="6651626"/>
            <a:ext cx="499756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9"/>
              </a:lnSpc>
            </a:pPr>
            <a:r>
              <a:rPr lang="en-US" sz="2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Chat interno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63366" y="4119865"/>
            <a:ext cx="499756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9"/>
              </a:lnSpc>
            </a:pPr>
            <a:r>
              <a:rPr lang="en-US" sz="2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Notificaciones en tiempo real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504227"/>
            <a:ext cx="16230600" cy="101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05. Posibles ampliaciones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3699" y="2763715"/>
            <a:ext cx="1166969" cy="292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20"/>
              </a:lnSpc>
            </a:pPr>
            <a:r>
              <a:rPr lang="en-US" sz="12719" spc="1093">
                <a:solidFill>
                  <a:srgbClr val="DBD5D2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5066254"/>
            <a:ext cx="1166969" cy="292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20"/>
              </a:lnSpc>
            </a:pPr>
            <a:r>
              <a:rPr lang="en-US" sz="12719" spc="1093">
                <a:solidFill>
                  <a:srgbClr val="DBD5D2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3699" y="4929443"/>
            <a:ext cx="1166969" cy="292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20"/>
              </a:lnSpc>
            </a:pPr>
            <a:r>
              <a:rPr lang="en-US" sz="12719" spc="1093">
                <a:solidFill>
                  <a:srgbClr val="DBD5D2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18423" y="2635807"/>
            <a:ext cx="1166969" cy="292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20"/>
              </a:lnSpc>
            </a:pPr>
            <a:r>
              <a:rPr lang="en-US" sz="12719" spc="1093">
                <a:solidFill>
                  <a:srgbClr val="DBD5D2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94625" y="4665345"/>
            <a:ext cx="636110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4"/>
              </a:lnSpc>
            </a:pPr>
            <a:r>
              <a:rPr lang="en-US" sz="5299" spc="-3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06. Explotación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26487" y="3600450"/>
            <a:ext cx="7575892" cy="308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AJCAR 25 esta desplegada con Neon para la base de datos, y Vercel para el despliegue de la app, con unos planes gratuitos, por eso el coste necesario para poder utilizar la aplicación seria de 0€/mes. </a:t>
            </a:r>
          </a:p>
          <a:p>
            <a:pPr algn="l">
              <a:lnSpc>
                <a:spcPts val="2759"/>
              </a:lnSpc>
            </a:pP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 cuanto a las posibilidades de negocio, esta aplicación se podría ofrecer a negocios que utilicen el sistema de presupuestos y facturas cobrando una cuota mensual por el acceso a la misma.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1546" y="3600877"/>
            <a:ext cx="15984908" cy="259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16"/>
              </a:lnSpc>
            </a:pPr>
            <a:r>
              <a:rPr lang="en-US" sz="10016" spc="80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Muchas gracias por escuchar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71573" y="5846011"/>
            <a:ext cx="6744854" cy="103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34"/>
              </a:lnSpc>
            </a:pPr>
            <a:r>
              <a:rPr lang="en-US" sz="4499" spc="38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¿Alguna pregunta?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DAHJrUv26Zo</dc:identifier>
  <dcterms:modified xsi:type="dcterms:W3CDTF">2011-08-01T06:04:30Z</dcterms:modified>
  <cp:revision>1</cp:revision>
  <dc:title>TFG_Héctor Sanz Riesco</dc:title>
</cp:coreProperties>
</file>